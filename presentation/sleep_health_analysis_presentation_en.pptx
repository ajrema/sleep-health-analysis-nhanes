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330d5264794987" /><Relationship Type="http://schemas.openxmlformats.org/officeDocument/2006/relationships/extended-properties" Target="/docProps/app.xml" Id="Rc94ecaac8e7f4195" /><Relationship Type="http://schemas.openxmlformats.org/officeDocument/2006/relationships/officeDocument" Target="/ppt/presentation.xml" Id="R55fa62ded1ad4d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21a35fb07d4307"/>
  </p:sldMasterIdLst>
  <p:notesMasterIdLst>
    <p:notesMasterId xmlns:r="http://schemas.openxmlformats.org/officeDocument/2006/relationships" r:id="R89383c1437f54318"/>
  </p:notesMasterIdLst>
  <p:sldIdLst>
    <p:sldId xmlns:r="http://schemas.openxmlformats.org/officeDocument/2006/relationships" id="256" r:id="R8b9ef353f61142d0"/>
    <p:sldId xmlns:r="http://schemas.openxmlformats.org/officeDocument/2006/relationships" id="257" r:id="Rb6cb41ba554547c0"/>
    <p:sldId xmlns:r="http://schemas.openxmlformats.org/officeDocument/2006/relationships" id="258" r:id="Re74c9ea63b0a46eb"/>
    <p:sldId xmlns:r="http://schemas.openxmlformats.org/officeDocument/2006/relationships" id="259" r:id="Rcb725c66d3364b2d"/>
    <p:sldId xmlns:r="http://schemas.openxmlformats.org/officeDocument/2006/relationships" id="260" r:id="Rd2909a01c0c2462e"/>
    <p:sldId xmlns:r="http://schemas.openxmlformats.org/officeDocument/2006/relationships" id="261" r:id="Rfe06b40af48a4af1"/>
    <p:sldId xmlns:r="http://schemas.openxmlformats.org/officeDocument/2006/relationships" id="262" r:id="R236ffc5ef8dd4e09"/>
    <p:sldId xmlns:r="http://schemas.openxmlformats.org/officeDocument/2006/relationships" id="263" r:id="R05a1a7770eb54373"/>
    <p:sldId xmlns:r="http://schemas.openxmlformats.org/officeDocument/2006/relationships" id="264" r:id="R9b121eb609be499f"/>
    <p:sldId xmlns:r="http://schemas.openxmlformats.org/officeDocument/2006/relationships" id="265" r:id="Rc530e6055f5647a0"/>
    <p:sldId xmlns:r="http://schemas.openxmlformats.org/officeDocument/2006/relationships" id="266" r:id="Rba0b19c0a02b440c"/>
    <p:sldId xmlns:r="http://schemas.openxmlformats.org/officeDocument/2006/relationships" id="267" r:id="Rf4a5188536d04ef5"/>
    <p:sldId xmlns:r="http://schemas.openxmlformats.org/officeDocument/2006/relationships" id="268" r:id="R2a17ddd957c1454c"/>
    <p:sldId xmlns:r="http://schemas.openxmlformats.org/officeDocument/2006/relationships" id="269" r:id="R333f18787a2842ea"/>
    <p:sldId xmlns:r="http://schemas.openxmlformats.org/officeDocument/2006/relationships" id="270" r:id="R065f2bf3dec143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7b74cab2e44d45" /><Relationship Type="http://schemas.openxmlformats.org/officeDocument/2006/relationships/slideMaster" Target="/ppt/slideMasters/slideMaster1.xml" Id="Ra721a35fb07d4307" /><Relationship Type="http://schemas.openxmlformats.org/officeDocument/2006/relationships/notesMaster" Target="/ppt/notesMasters/notesMaster1.xml" Id="R89383c1437f54318" /><Relationship Type="http://schemas.openxmlformats.org/officeDocument/2006/relationships/presProps" Target="/ppt/presProps.xml" Id="R5f317ce91c294d2f" /><Relationship Type="http://schemas.openxmlformats.org/officeDocument/2006/relationships/tableStyles" Target="/ppt/tableStyles.xml" Id="R2bd987664b224f48" /><Relationship Type="http://schemas.openxmlformats.org/officeDocument/2006/relationships/slide" Target="/ppt/slides/slide1.xml" Id="R8b9ef353f61142d0" /><Relationship Type="http://schemas.openxmlformats.org/officeDocument/2006/relationships/slide" Target="/ppt/slides/slide2.xml" Id="Rb6cb41ba554547c0" /><Relationship Type="http://schemas.openxmlformats.org/officeDocument/2006/relationships/slide" Target="/ppt/slides/slide3.xml" Id="Re74c9ea63b0a46eb" /><Relationship Type="http://schemas.openxmlformats.org/officeDocument/2006/relationships/slide" Target="/ppt/slides/slide4.xml" Id="Rcb725c66d3364b2d" /><Relationship Type="http://schemas.openxmlformats.org/officeDocument/2006/relationships/slide" Target="/ppt/slides/slide5.xml" Id="Rd2909a01c0c2462e" /><Relationship Type="http://schemas.openxmlformats.org/officeDocument/2006/relationships/slide" Target="/ppt/slides/slide6.xml" Id="Rfe06b40af48a4af1" /><Relationship Type="http://schemas.openxmlformats.org/officeDocument/2006/relationships/slide" Target="/ppt/slides/slide7.xml" Id="R236ffc5ef8dd4e09" /><Relationship Type="http://schemas.openxmlformats.org/officeDocument/2006/relationships/slide" Target="/ppt/slides/slide8.xml" Id="R05a1a7770eb54373" /><Relationship Type="http://schemas.openxmlformats.org/officeDocument/2006/relationships/slide" Target="/ppt/slides/slide9.xml" Id="R9b121eb609be499f" /><Relationship Type="http://schemas.openxmlformats.org/officeDocument/2006/relationships/slide" Target="/ppt/slides/slide10.xml" Id="Rc530e6055f5647a0" /><Relationship Type="http://schemas.openxmlformats.org/officeDocument/2006/relationships/slide" Target="/ppt/slides/slide11.xml" Id="Rba0b19c0a02b440c" /><Relationship Type="http://schemas.openxmlformats.org/officeDocument/2006/relationships/slide" Target="/ppt/slides/slide12.xml" Id="Rf4a5188536d04ef5" /><Relationship Type="http://schemas.openxmlformats.org/officeDocument/2006/relationships/slide" Target="/ppt/slides/slide13.xml" Id="R2a17ddd957c1454c" /><Relationship Type="http://schemas.openxmlformats.org/officeDocument/2006/relationships/slide" Target="/ppt/slides/slide14.xml" Id="R333f18787a2842ea" /><Relationship Type="http://schemas.openxmlformats.org/officeDocument/2006/relationships/slide" Target="/ppt/slides/slide15.xml" Id="R065f2bf3dec143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d31c75c39143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c22df45249426d" /><Relationship Type="http://schemas.openxmlformats.org/officeDocument/2006/relationships/notesMaster" Target="/ppt/notesMasters/notesMaster1.xml" Id="Re0792d1be26b43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92130c5df74413" /><Relationship Type="http://schemas.openxmlformats.org/officeDocument/2006/relationships/notesMaster" Target="/ppt/notesMasters/notesMaster1.xml" Id="R69133bdafc8345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0e85988a3742d5" /><Relationship Type="http://schemas.openxmlformats.org/officeDocument/2006/relationships/notesMaster" Target="/ppt/notesMasters/notesMaster1.xml" Id="Rb95a738159254a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756468c8394bca" /><Relationship Type="http://schemas.openxmlformats.org/officeDocument/2006/relationships/notesMaster" Target="/ppt/notesMasters/notesMaster1.xml" Id="Rd9217ea7334145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5f35f2d56640fa" /><Relationship Type="http://schemas.openxmlformats.org/officeDocument/2006/relationships/notesMaster" Target="/ppt/notesMasters/notesMaster1.xml" Id="R44b41ed714ad4a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aafb2af8864fef" /><Relationship Type="http://schemas.openxmlformats.org/officeDocument/2006/relationships/notesMaster" Target="/ppt/notesMasters/notesMaster1.xml" Id="Reb4a6c4104024f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14855393b8474f" /><Relationship Type="http://schemas.openxmlformats.org/officeDocument/2006/relationships/notesMaster" Target="/ppt/notesMasters/notesMaster1.xml" Id="R057385d5318b48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e620eadafc443c" /><Relationship Type="http://schemas.openxmlformats.org/officeDocument/2006/relationships/notesMaster" Target="/ppt/notesMasters/notesMaster1.xml" Id="Rc44b3502f02c4c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086a1ed69449f8" /><Relationship Type="http://schemas.openxmlformats.org/officeDocument/2006/relationships/notesMaster" Target="/ppt/notesMasters/notesMaster1.xml" Id="Rd32cac9049bc44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abb7448b2d4787" /><Relationship Type="http://schemas.openxmlformats.org/officeDocument/2006/relationships/notesMaster" Target="/ppt/notesMasters/notesMaster1.xml" Id="Rda37725b018042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4369b01f8e4367" /><Relationship Type="http://schemas.openxmlformats.org/officeDocument/2006/relationships/notesMaster" Target="/ppt/notesMasters/notesMaster1.xml" Id="R61036ba4fe3b4d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f74b7e7f9b409a" /><Relationship Type="http://schemas.openxmlformats.org/officeDocument/2006/relationships/notesMaster" Target="/ppt/notesMasters/notesMaster1.xml" Id="R99e2a34d7e7449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29f0201ed149d4" /><Relationship Type="http://schemas.openxmlformats.org/officeDocument/2006/relationships/notesMaster" Target="/ppt/notesMasters/notesMaster1.xml" Id="R146a96c6d79e42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2d65b1dae24a29" /><Relationship Type="http://schemas.openxmlformats.org/officeDocument/2006/relationships/notesMaster" Target="/ppt/notesMasters/notesMaster1.xml" Id="R1463715a0c9644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4ab363c4424b1a" /><Relationship Type="http://schemas.openxmlformats.org/officeDocument/2006/relationships/notesMaster" Target="/ppt/notesMasters/notesMaster1.xml" Id="R66afd217081944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8d91f59e542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cc4c78ed8849f6" /><Relationship Type="http://schemas.openxmlformats.org/officeDocument/2006/relationships/slideLayout" Target="/ppt/slideLayouts/slideLayout1.xml" Id="R490883c5e76546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0883c5e76546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49d67d77d4071" /><Relationship Type="http://schemas.openxmlformats.org/officeDocument/2006/relationships/notesSlide" Target="/ppt/notesSlides/notesSlide1.xml" Id="Rc128174fd76b4e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3fa3ab3544de6" /><Relationship Type="http://schemas.openxmlformats.org/officeDocument/2006/relationships/notesSlide" Target="/ppt/notesSlides/notesSlide2.xml" Id="Rf482d032d5c642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a67055c6a4eae" /><Relationship Type="http://schemas.openxmlformats.org/officeDocument/2006/relationships/notesSlide" Target="/ppt/notesSlides/notesSlide3.xml" Id="R81cb2a8d36e944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976049fd6433a" /><Relationship Type="http://schemas.openxmlformats.org/officeDocument/2006/relationships/notesSlide" Target="/ppt/notesSlides/notesSlide4.xml" Id="Ra94568cf60aa4c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738d77a5242fe" /><Relationship Type="http://schemas.openxmlformats.org/officeDocument/2006/relationships/notesSlide" Target="/ppt/notesSlides/notesSlide5.xml" Id="R5552f84b21ad40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d310003ed40ce" /><Relationship Type="http://schemas.openxmlformats.org/officeDocument/2006/relationships/notesSlide" Target="/ppt/notesSlides/notesSlide6.xml" Id="Rf940b3f6fa604c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4e97a8ffe4cfe" /><Relationship Type="http://schemas.openxmlformats.org/officeDocument/2006/relationships/image" Target="/ppt/media/image.png" Id="Re05fcb37a74b4364" /><Relationship Type="http://schemas.openxmlformats.org/officeDocument/2006/relationships/notesSlide" Target="/ppt/notesSlides/notesSlide7.xml" Id="R310a8759791544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49639ec234d53" /><Relationship Type="http://schemas.openxmlformats.org/officeDocument/2006/relationships/image" Target="/ppt/media/image2.png" Id="R5e4f9673eac3431d" /><Relationship Type="http://schemas.openxmlformats.org/officeDocument/2006/relationships/image" Target="/ppt/media/image3.png" Id="Rd3c671d8523e4b78" /><Relationship Type="http://schemas.openxmlformats.org/officeDocument/2006/relationships/notesSlide" Target="/ppt/notesSlides/notesSlide8.xml" Id="R69a648a607684a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4542c33934c66" /><Relationship Type="http://schemas.openxmlformats.org/officeDocument/2006/relationships/image" Target="/ppt/media/image4.png" Id="R1245603ebab64864" /><Relationship Type="http://schemas.openxmlformats.org/officeDocument/2006/relationships/image" Target="/ppt/media/image5.png" Id="Rc20e16361f774ad2" /><Relationship Type="http://schemas.openxmlformats.org/officeDocument/2006/relationships/notesSlide" Target="/ppt/notesSlides/notesSlide9.xml" Id="R06bb115daadd47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85a4f98fe4a38" /><Relationship Type="http://schemas.openxmlformats.org/officeDocument/2006/relationships/notesSlide" Target="/ppt/notesSlides/notesSlide10.xml" Id="R3d816ba407ac4a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a8607802e442a" /><Relationship Type="http://schemas.openxmlformats.org/officeDocument/2006/relationships/image" Target="/ppt/media/image6.png" Id="R51f10846d16740ff" /><Relationship Type="http://schemas.openxmlformats.org/officeDocument/2006/relationships/notesSlide" Target="/ppt/notesSlides/notesSlide11.xml" Id="R56d4321de45846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3e966096d4ca4" /><Relationship Type="http://schemas.openxmlformats.org/officeDocument/2006/relationships/image" Target="/ppt/media/image7.png" Id="Rf03b7a6c981e41b2" /><Relationship Type="http://schemas.openxmlformats.org/officeDocument/2006/relationships/notesSlide" Target="/ppt/notesSlides/notesSlide12.xml" Id="R05761140d76942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1119f52f04bdb" /><Relationship Type="http://schemas.openxmlformats.org/officeDocument/2006/relationships/notesSlide" Target="/ppt/notesSlides/notesSlide13.xml" Id="R331067d5417641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46e3053de4788" /><Relationship Type="http://schemas.openxmlformats.org/officeDocument/2006/relationships/notesSlide" Target="/ppt/notesSlides/notesSlide14.xml" Id="Rc0986ba8f34649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fc6975fc64efe" /><Relationship Type="http://schemas.openxmlformats.org/officeDocument/2006/relationships/notesSlide" Target="/ppt/notesSlides/notesSlide15.xml" Id="Re3cb760aa2c749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3BCC7D-1727-4550-AFF0-E3DC5059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9F055-1272-4C2A-B09D-BB4950C6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7C399-3CAC-4594-A22D-000E7889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5250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Association between sleep duration, demographic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characteristics, health status, and lifestyle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24BEB-7A96-4E0A-BCB1-950A7874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622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DCF5"/>
                </a:solidFill>
              </a:defRPr>
            </a:pPr>
            <a:r>
              <a:rPr sz="1875" b="1">
                <a:solidFill>
                  <a:srgbClr val="D9DCF5"/>
                </a:solidFill>
              </a:rPr>
              <a:t>A cross-sectional analysis based on NHANES 2017–2018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93531-2DFA-4CF5-9451-1F96B14D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006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ALEJANDRO REQUENA MARTÍN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IT ACADEMY · FINAL PROJECT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282AB-B237-4E49-9B5A-EB2DDABD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E4B82F"/>
                </a:solidFill>
              </a:defRPr>
            </a:pPr>
            <a:r>
              <a:rPr sz="2625" b="0">
                <a:solidFill>
                  <a:srgbClr val="E4B82F"/>
                </a:solidFill>
              </a:rPr>
              <a:t>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D7335-948E-4126-A850-5A90205F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36A3"/>
                </a:solidFill>
              </a:defRPr>
            </a:pPr>
            <a:r>
              <a:rPr sz="1950" b="1">
                <a:solidFill>
                  <a:srgbClr val="3636A3"/>
                </a:solidFill>
              </a:rPr>
              <a:t>zzz</a:t>
            </a:r>
          </a:p>
        </p:txBody>
      </p:sp>
    </p:spTree>
    <p:extLst>
      <p:ext uri="{BB962C8B-B14F-4D97-AF65-F5344CB8AC3E}">
        <p14:creationId xmlns:p14="http://schemas.microsoft.com/office/powerpoint/2010/main" val="2031769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F408F7-9943-47BC-A748-6FDCE5C0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ED109-8616-4156-8E41-C2E2B597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92B71-77E7-4016-82F6-FB1F2ABB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DCF5"/>
                </a:solidFill>
              </a:defRPr>
            </a:pPr>
            <a:r>
              <a:rPr sz="1575" b="0">
                <a:solidFill>
                  <a:srgbClr val="D9DCF5"/>
                </a:solidFill>
              </a:rPr>
              <a:t>•  Sleep is an essential biological process for physical and mental health.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6C3C7-8E61-459E-8FF7-FAF67F12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DCF5"/>
                </a:solidFill>
              </a:defRPr>
            </a:pPr>
            <a:r>
              <a:rPr sz="1575" b="0">
                <a:solidFill>
                  <a:srgbClr val="D9DCF5"/>
                </a:solidFill>
              </a:rPr>
              <a:t>•  During sleep, the body and brain repair tissues, consolidate memory, and regulate hormones.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11F18-8D60-4FB1-946A-05B700B7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DCF5"/>
                </a:solidFill>
              </a:defRPr>
            </a:pPr>
            <a:r>
              <a:rPr sz="1575" b="0">
                <a:solidFill>
                  <a:srgbClr val="D9DCF5"/>
                </a:solidFill>
              </a:rPr>
              <a:t>•  Sleeping less or more than recommended has been associated with cardiovascular disease, diabetes, obesity, and cognitive impairment.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970EC-92BB-481D-8AB4-006D7FE1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10000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DCF5"/>
                </a:solidFill>
              </a:defRPr>
            </a:pPr>
            <a:r>
              <a:rPr sz="1575" b="0">
                <a:solidFill>
                  <a:srgbClr val="D9DCF5"/>
                </a:solidFill>
              </a:rPr>
              <a:t>•  Understanding these associations may support prevention strategies and healthier sleep habits.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A1821-9765-4B14-AD10-9B90243C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716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0" b="0">
                <a:solidFill>
                  <a:srgbClr val="E4B82F"/>
                </a:solidFill>
              </a:defRPr>
            </a:pPr>
            <a:r>
              <a:rPr sz="5250" b="0">
                <a:solidFill>
                  <a:srgbClr val="E4B82F"/>
                </a:solidFill>
              </a:rPr>
              <a:t>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006A3-F8F3-4B63-9FE5-2D5BCD06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DCF5"/>
                </a:solidFill>
              </a:defRPr>
            </a:pPr>
            <a:r>
              <a:rPr sz="2100" b="1">
                <a:solidFill>
                  <a:srgbClr val="D9DCF5"/>
                </a:solidFill>
              </a:rPr>
              <a:t>Sleep matters</a:t>
            </a:r>
          </a:p>
          <a:p xmlns:a="http://schemas.openxmlformats.org/drawingml/2006/main">
            <a:pPr algn="ctr">
              <a:defRPr sz="2100" b="1">
                <a:solidFill>
                  <a:srgbClr val="D9DCF5"/>
                </a:solidFill>
              </a:defRPr>
            </a:pPr>
            <a:r>
              <a:rPr sz="2100" b="1">
                <a:solidFill>
                  <a:srgbClr val="D9DCF5"/>
                </a:solidFill>
              </a:rPr>
              <a:t>across the lifespan</a:t>
            </a:r>
          </a:p>
        </p:txBody>
      </p:sp>
    </p:spTree>
    <p:extLst>
      <p:ext uri="{BB962C8B-B14F-4D97-AF65-F5344CB8AC3E}">
        <p14:creationId xmlns:p14="http://schemas.microsoft.com/office/powerpoint/2010/main" val="1540013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A692E-CD80-4DE4-BA91-111660B3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C05FB-B078-4156-914D-18723A6E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7579B-9D7D-4972-B69A-834EA1A0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742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Sleep duration below or above the recommended range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will be associated with a less favorable health and lifestyle profile.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2BB8B-3578-4471-84E9-9E329948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E4B82F"/>
                </a:solidFill>
              </a:defRPr>
            </a:pPr>
            <a:r>
              <a:rPr sz="2625" b="0">
                <a:solidFill>
                  <a:srgbClr val="E4B82F"/>
                </a:solidFill>
              </a:rPr>
              <a:t>☾</a:t>
            </a:r>
          </a:p>
        </p:txBody>
      </p:sp>
    </p:spTree>
    <p:extLst>
      <p:ext uri="{BB962C8B-B14F-4D97-AF65-F5344CB8AC3E}">
        <p14:creationId xmlns:p14="http://schemas.microsoft.com/office/powerpoint/2010/main" val="119345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79BC2-8E7F-4D95-B818-EBD810B6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96CE9-6725-4D77-8B84-4FC83ABE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3E08E-F94D-4806-9DE7-4A28FA5F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Project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D37E3-12D8-4744-8FA8-49F2D162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3236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E35D3-1BB5-4802-8F8A-D6B8D1AD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NHANES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07FDA-C3CE-4926-9FA2-D920D8A3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323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8600E-E158-496B-A9CF-C8AFD67C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B0EAD-57F0-4B9F-B3FD-09088400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3236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4A32D-0DDC-4F27-BB9A-EA2B3A59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71396-259F-48D7-B1B2-3317F4DA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3236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6BE4A-A497-4CD1-A970-4E0D64B8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737AF-3E2A-4134-8A58-1FC2E0BF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052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3236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DA453-D255-4FA0-8B2A-AA354DE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Statistical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BC381-49AF-4947-98BC-77DA25E4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052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3236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6CFFB-5E86-437A-B63E-E3A0CF0D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BC331-D44C-420E-AAC7-F6CBE4EE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3236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F463E-A5E4-4D27-949B-E75128BF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Cleaning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6C06F-4AA7-4651-8AED-93017E6E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B82F"/>
                </a:solidFill>
              </a:defRPr>
            </a:pPr>
            <a:r>
              <a:rPr sz="2100" b="1">
                <a:solidFill>
                  <a:srgbClr val="E4B82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BE459-3303-4A94-A038-ACAA3801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B82F"/>
                </a:solidFill>
              </a:defRPr>
            </a:pPr>
            <a:r>
              <a:rPr sz="2100" b="1">
                <a:solidFill>
                  <a:srgbClr val="E4B82F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56609-9997-4EEF-B8FD-52644319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B82F"/>
                </a:solidFill>
              </a:defRPr>
            </a:pPr>
            <a:r>
              <a:rPr sz="2100" b="1">
                <a:solidFill>
                  <a:srgbClr val="E4B82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2C5CC-3B84-4442-9757-B84075BB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B82F"/>
                </a:solidFill>
              </a:defRPr>
            </a:pPr>
            <a:r>
              <a:rPr sz="2250" b="1">
                <a:solidFill>
                  <a:srgbClr val="E4B82F"/>
                </a:solidFill>
              </a:rPr>
              <a:t>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6CA06-BC50-4FD2-807D-9B2F9D1C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B82F"/>
                </a:solidFill>
              </a:defRPr>
            </a:pPr>
            <a:r>
              <a:rPr sz="2100" b="1">
                <a:solidFill>
                  <a:srgbClr val="E4B82F"/>
                </a:solidFill>
              </a:rPr>
              <a:t>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D12C1-A60B-4CC8-9AE2-C96C1010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B82F"/>
                </a:solidFill>
              </a:defRPr>
            </a:pPr>
            <a:r>
              <a:rPr sz="2100" b="1">
                <a:solidFill>
                  <a:srgbClr val="E4B82F"/>
                </a:solidFill>
              </a:rPr>
              <a:t>←</a:t>
            </a:r>
          </a:p>
        </p:txBody>
      </p:sp>
    </p:spTree>
    <p:extLst>
      <p:ext uri="{BB962C8B-B14F-4D97-AF65-F5344CB8AC3E}">
        <p14:creationId xmlns:p14="http://schemas.microsoft.com/office/powerpoint/2010/main" val="1891299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44CD88-93DF-446B-9BC2-13156C61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DATA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99EF3-F5E9-4E5B-9E8C-10985E6F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5AEB4-E77E-43EF-8B0D-C4976CDB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Data loading and renaming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B1786-889E-4F1C-83B8-DD82C915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Creation of categorical variables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F2161-2F8C-4B5B-949A-931DA2D9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47750"/>
            <a:ext cx="6381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5155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162FC-81ED-4574-BA4B-E5D7C6B6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76375"/>
            <a:ext cx="53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Categorical variables were defined according to international clinical recommendations: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0A391-A29A-4076-B238-44338891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24125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CF5"/>
                </a:solidFill>
              </a:defRPr>
            </a:pPr>
            <a:r>
              <a:rPr sz="1650" b="0">
                <a:solidFill>
                  <a:srgbClr val="D9DCF5"/>
                </a:solidFill>
              </a:rPr>
              <a:t>•  WHO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2A3C3-1624-4A1B-937E-FD62B627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76575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CF5"/>
                </a:solidFill>
              </a:defRPr>
            </a:pPr>
            <a:r>
              <a:rPr sz="1650" b="0">
                <a:solidFill>
                  <a:srgbClr val="D9DCF5"/>
                </a:solidFill>
              </a:rPr>
              <a:t>•  AASM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DF936-2300-4CF6-9592-D92CE56B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29025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CF5"/>
                </a:solidFill>
              </a:defRPr>
            </a:pPr>
            <a:r>
              <a:rPr sz="1650" b="0">
                <a:solidFill>
                  <a:srgbClr val="D9DCF5"/>
                </a:solidFill>
              </a:rPr>
              <a:t>•  ACC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6FDA5-49C3-416E-BC24-831BE155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CF5"/>
                </a:solidFill>
              </a:defRPr>
            </a:pPr>
            <a:r>
              <a:rPr sz="1650" b="0">
                <a:solidFill>
                  <a:srgbClr val="D9DCF5"/>
                </a:solidFill>
              </a:rPr>
              <a:t>•  ADA</a:t>
            </a:r>
          </a:p>
        </p:txBody>
      </p:sp>
    </p:spTree>
    <p:extLst>
      <p:ext uri="{BB962C8B-B14F-4D97-AF65-F5344CB8AC3E}">
        <p14:creationId xmlns:p14="http://schemas.microsoft.com/office/powerpoint/2010/main" val="1715563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2BE54F-F332-40EA-88EB-85C28D80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SAMPLE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237E0-096E-4F62-BAFA-E5F4E329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EC747-B375-4BF5-8808-BF8FC921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3381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75999-1A3C-413F-8BA2-092D421A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4,103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7D0B0-22B5-433B-A1DB-BBA1221E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Participants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03645-02DB-4732-8371-DD478E9F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85875"/>
            <a:ext cx="3381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D38B8-215F-48E9-8A0A-4547BBA7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51% / 49%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D77D1-7F1E-4CFA-97ED-B94D5F5C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Women / 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6AAD1-8D20-4141-97A2-0F70A69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85875"/>
            <a:ext cx="3381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8B1A7-0F57-4C07-B648-6C40A535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51.82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8677D-33EB-4436-8E34-D08049EB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Mean 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C52D7-E532-43BC-A740-98618532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3381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EA844-100A-4979-9773-AD117B5F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2.53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6BDF0-5C08-4D84-8477-C727D9C8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Mean Poverty Index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500C7-4BBB-47B9-9DB1-173A74DE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76625"/>
            <a:ext cx="3381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7DB51-2949-454B-AB94-C3554E41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6237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Good · Intermediate · Poor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107D2-54C1-4BD9-B11C-54AF349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815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Health profile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A8E90-7A17-4A6D-A2D8-15EDED6E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76625"/>
            <a:ext cx="3381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7201D-8664-48D4-97EC-0CFC2B3E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6237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Healthy · Intermediate · Unhealthy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CAE98-89EB-4F85-9DC9-16ADEFC0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815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Lifestyle profile</a:t>
            </a:r>
          </a:p>
        </p:txBody>
      </p:sp>
    </p:spTree>
    <p:extLst>
      <p:ext uri="{BB962C8B-B14F-4D97-AF65-F5344CB8AC3E}">
        <p14:creationId xmlns:p14="http://schemas.microsoft.com/office/powerpoint/2010/main" val="1186593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534985-6835-45F4-9C64-44A491A0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HOW DOES SLEEP VARY BY AGE?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11285-52ED-44BC-8508-D4B4780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fcb37a74b4364"/>
          <a:stretch xmlns:a="http://schemas.openxmlformats.org/drawingml/2006/main"/>
        </p:blipFill>
        <p:spPr>
          <a:xfrm xmlns:a="http://schemas.openxmlformats.org/drawingml/2006/main">
            <a:off x="523875" y="1782119"/>
            <a:ext cx="6572250" cy="362713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F325C-A9D3-417E-8964-749CC108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952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DCF5"/>
                </a:solidFill>
              </a:defRPr>
            </a:pPr>
            <a:r>
              <a:rPr sz="1425" b="0">
                <a:solidFill>
                  <a:srgbClr val="D9DCF5"/>
                </a:solidFill>
              </a:rPr>
              <a:t>•  Recommended sleep was the predominant category in every age group (~60%).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A43DA-099A-49C2-8F61-7DA74CE7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952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DCF5"/>
                </a:solidFill>
              </a:defRPr>
            </a:pPr>
            <a:r>
              <a:rPr sz="1425" b="0">
                <a:solidFill>
                  <a:srgbClr val="D9DCF5"/>
                </a:solidFill>
              </a:rPr>
              <a:t>•  Short- and long-sleep categories showed opposite trends across 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EDD0C-0704-4679-B3A8-2E55A059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816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DCF5"/>
                </a:solidFill>
              </a:defRPr>
            </a:pPr>
            <a:r>
              <a:rPr sz="1350" b="1">
                <a:solidFill>
                  <a:srgbClr val="D9DCF5"/>
                </a:solidFill>
              </a:rPr>
              <a:t>χ² = 40.51  |  p &lt; 0.001  |  Cramér’s V = 0.071</a:t>
            </a:r>
          </a:p>
        </p:txBody>
      </p:sp>
    </p:spTree>
    <p:extLst>
      <p:ext uri="{BB962C8B-B14F-4D97-AF65-F5344CB8AC3E}">
        <p14:creationId xmlns:p14="http://schemas.microsoft.com/office/powerpoint/2010/main" val="9599048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4C679D-B207-4B50-8C91-9377B5FF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HOW DOES SLEEP VARY BY GENDER?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9C945-ECD6-427C-8E1B-3522EB72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f9673eac3431d"/>
          <a:stretch xmlns:a="http://schemas.openxmlformats.org/drawingml/2006/main"/>
        </p:blipFill>
        <p:spPr>
          <a:xfrm xmlns:a="http://schemas.openxmlformats.org/drawingml/2006/main">
            <a:off x="428625" y="1758685"/>
            <a:ext cx="5095875" cy="3340629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671d8523e4b78"/>
          <a:stretch xmlns:a="http://schemas.openxmlformats.org/drawingml/2006/main"/>
        </p:blipFill>
        <p:spPr>
          <a:xfrm xmlns:a="http://schemas.openxmlformats.org/drawingml/2006/main">
            <a:off x="6143625" y="3525503"/>
            <a:ext cx="4953000" cy="175961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C2C10-0F18-4495-98E4-5FB78D16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Women reported a slightly longer mean sleep duration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DA989-EB4F-4A3E-B762-038B2B62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4B82F"/>
                </a:solidFill>
              </a:defRPr>
            </a:pPr>
            <a:r>
              <a:rPr sz="1725" b="1">
                <a:solidFill>
                  <a:srgbClr val="E4B82F"/>
                </a:solidFill>
              </a:rPr>
              <a:t>18 minutes more sleep per night for women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B2273-491F-40F1-B98C-85DA80D2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The overall sleep-duration distributions were very similar between sexes.</a:t>
            </a:r>
          </a:p>
        </p:txBody>
      </p:sp>
    </p:spTree>
    <p:extLst>
      <p:ext uri="{BB962C8B-B14F-4D97-AF65-F5344CB8AC3E}">
        <p14:creationId xmlns:p14="http://schemas.microsoft.com/office/powerpoint/2010/main" val="2042463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BCFEE-59FE-46FB-9AB8-64792B5A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DO OTHER DEMOGRAPHIC FACTORS INFLUENCE SLEEP DURATION?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88331-1800-42B9-9FBB-2694A3F4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EE181-B12E-4BE7-B32E-5E412693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Does mean sleep duration differ by BMI?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E1C3A-4D99-43B2-BAA3-D23A7418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95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Does sleep duration change by Poverty Index?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5603ebab64864"/>
          <a:stretch xmlns:a="http://schemas.openxmlformats.org/drawingml/2006/main"/>
        </p:blipFill>
        <p:spPr>
          <a:xfrm xmlns:a="http://schemas.openxmlformats.org/drawingml/2006/main">
            <a:off x="619125" y="1926100"/>
            <a:ext cx="5000625" cy="3291551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e16361f774ad2"/>
          <a:stretch xmlns:a="http://schemas.openxmlformats.org/drawingml/2006/main"/>
        </p:blipFill>
        <p:spPr>
          <a:xfrm xmlns:a="http://schemas.openxmlformats.org/drawingml/2006/main">
            <a:off x="6582455" y="1619250"/>
            <a:ext cx="4742089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84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116FC-E372-4519-8044-43338035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BUILDING HEALTH AND LIFESTYLE PROFILES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21715-F027-402C-84C8-93F1C97C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C8E7C-A891-40A2-AE85-13545CCC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5381625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B1B6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94F6C-8007-4EE0-80CE-8BC1B3D7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90625"/>
            <a:ext cx="5381625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B1B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8DF93-1B2C-462F-9CE0-1056872C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HEALTH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3F737-4B3A-41D6-8DDB-3B361E02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BMI — body mass 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FCDB4-510F-4C5F-99F6-D69D5E37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HbA1c — glycemic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81CA4-012A-48D7-9FE6-15233E17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861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Blood pressure — systolic/diastolic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CC6B8-2B40-4695-89BE-31619BD7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HDL cholesterol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2A2F7-18CE-4643-8E4A-E724538B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Good health (1,964) · Intermediate (1,206) · Poor health (753)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B1F2A-B4D2-407A-ABB9-6F2E424A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LIFESTYLE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B67CA-4C68-4D7B-A90A-821A2D41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Physical activity — weekly exercise level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A4AAC-44B2-48C9-8400-D93F02D7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Smoking — never / former /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42ECE-1EFD-41A9-8DDF-9725D08F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Alcohol use — frequency and intensity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8B7E7-0E48-41B6-A0DD-4B47629C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Healthy (1,249) · Intermediate (1,893) · Unhealthy (961)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721BC-0C78-48F6-9E76-562C2A01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436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DCF5"/>
                </a:solidFill>
              </a:defRPr>
            </a:pPr>
            <a:r>
              <a:rPr sz="1125" b="0">
                <a:solidFill>
                  <a:srgbClr val="D9DCF5"/>
                </a:solidFill>
              </a:rPr>
              <a:t>Scores were based on the percentage of the maximum possible score for the indicators available for each participant.</a:t>
            </a:r>
          </a:p>
        </p:txBody>
      </p:sp>
    </p:spTree>
    <p:extLst>
      <p:ext uri="{BB962C8B-B14F-4D97-AF65-F5344CB8AC3E}">
        <p14:creationId xmlns:p14="http://schemas.microsoft.com/office/powerpoint/2010/main" val="7738119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214FA-F020-4AB1-92D7-06B8BF72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HOW IS SLEEP DURATION RELATED TO HEALTH PROFILE?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F65CC-57D4-4556-8974-683E1B7C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19B96-BEA7-4105-AFCD-0B97DE75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Short sleep included the highest proportion of participants with a poor health profile (33.8%).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Recommended and long sleep showed similar distributions.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10846d16740ff"/>
          <a:stretch xmlns:a="http://schemas.openxmlformats.org/drawingml/2006/main"/>
        </p:blipFill>
        <p:spPr>
          <a:xfrm xmlns:a="http://schemas.openxmlformats.org/drawingml/2006/main">
            <a:off x="4978443" y="1190625"/>
            <a:ext cx="6521363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5AFF9-F9B4-4FAD-8D05-A21F8FF2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DCF5"/>
                </a:solidFill>
              </a:defRPr>
            </a:pPr>
            <a:r>
              <a:rPr sz="1275" b="1">
                <a:solidFill>
                  <a:srgbClr val="D9DCF5"/>
                </a:solidFill>
              </a:rPr>
              <a:t>χ² = 11.05  |  p = 0.026  |  Cramér’s V = 0.038</a:t>
            </a:r>
          </a:p>
        </p:txBody>
      </p:sp>
    </p:spTree>
    <p:extLst>
      <p:ext uri="{BB962C8B-B14F-4D97-AF65-F5344CB8AC3E}">
        <p14:creationId xmlns:p14="http://schemas.microsoft.com/office/powerpoint/2010/main" val="4988266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234DF6-6CC3-4F01-B1AB-3EB46860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IS SLEEP DURATION RELATED TO LIFESTYLE?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D2F15-27E3-42DC-BDA7-9A7C8236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0B889-A2A0-42DD-A0AF-B996E5B7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40481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Recommended sleep had the highest percentage of a healthy lifestyle profile (33.1%).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Short sleep had the largest proportion of participants with an unhealthy lifestyle (26.0%).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b7a6c981e41b2"/>
          <a:stretch xmlns:a="http://schemas.openxmlformats.org/drawingml/2006/main"/>
        </p:blipFill>
        <p:spPr>
          <a:xfrm xmlns:a="http://schemas.openxmlformats.org/drawingml/2006/main">
            <a:off x="4857750" y="1230923"/>
            <a:ext cx="6667500" cy="487240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29419-F70D-477A-9992-488F8E4C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DCF5"/>
                </a:solidFill>
              </a:defRPr>
            </a:pPr>
            <a:r>
              <a:rPr sz="1275" b="1">
                <a:solidFill>
                  <a:srgbClr val="D9DCF5"/>
                </a:solidFill>
              </a:rPr>
              <a:t>χ² = 20.92  |  p &lt; 0.001  |  Cramér’s V = 0.051</a:t>
            </a:r>
          </a:p>
        </p:txBody>
      </p:sp>
    </p:spTree>
    <p:extLst>
      <p:ext uri="{BB962C8B-B14F-4D97-AF65-F5344CB8AC3E}">
        <p14:creationId xmlns:p14="http://schemas.microsoft.com/office/powerpoint/2010/main" val="13375866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F7C633-ED7E-48F5-8FBC-DF257DFF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SUMMARY OF STATISTICAL ASSOCIATIONS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FBA9D-EA60-4E56-BADB-C55F8ACF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D0ED3-F320-4407-8A22-DA1B1BCF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012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All variables showed statistically significant associations with sleep duration (p &lt; 0.05), but every effect size was very weak (Cramér’s V &lt; 0.10).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9A984-ECB0-41C5-8E4B-85847E77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3837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9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B6243-06EE-4555-B03C-1E458C93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383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6BEC7-0053-4190-8322-EF399B06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9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961BB-88E9-47E6-9A16-5B79225A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p-value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EFD11-5398-4C6C-9605-A0CA49B6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9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2FE2D-6F80-4E0C-AF76-23094733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Cramér’s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B6B24-9710-4EC1-8068-A3F8636D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9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D1141-2780-440E-9770-A541A735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Effect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3E102-5B54-4876-882A-334ABBE7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57500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BAEF8-B132-437D-B145-A61D61C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575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Age 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41FF2-2FAF-4E30-8116-972E88BC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9F9A3-5CA1-468F-9A9F-2582FEA8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&lt;0.001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EB4C5-5D4F-4300-8FA3-1E695B2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BDFF3-422A-4CCE-938E-328A0BF2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0.071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2BFB4-90C7-4C01-89DB-5620F565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46D55-2040-4BE4-8952-58E7E5B2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Very weak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882A5-A03D-44BC-A729-9DFB2976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7662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1E260-5CDA-44D6-B8A7-55C3ED0D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766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Poverty Index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F213E-C5B7-4C23-A58E-C9601F00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2A0A83-4055-4303-B49A-825AEADD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&lt;0.001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45B28-099A-4225-ACA6-5B7493FD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7662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56FC1-FFBD-4FC9-8F67-E2454F69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766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0.094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C339E8-EC1A-4E04-94D3-1A438385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D0F20E-36CF-41BA-8687-E7670922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Very weak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58D1D4-A96C-4CA5-8A94-8363C32C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95750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1D2C5C-3294-4258-9C82-CC2D997E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957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Health profile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7547C9-2D7A-4693-86E4-A6BF160B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ED1D35-F496-4B8B-8331-D3E2C989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0.026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9AA5C5-171B-4852-9C04-D0A0E06B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D12FA9-A294-4725-BC25-D79AD34F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0.038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4C5859-7EDC-40EC-BECC-C058D461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36DC87-836B-4E38-AD23-54B4EB3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Very weak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3D188-07BA-4675-9F97-CB303635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1487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620168-7442-4276-B21E-33D6BF7E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148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Lifestyle profile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3DE57A-B9F6-4DC2-A56F-09A99D82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6FE8CC-738E-4AB6-97B7-F686CF4C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&lt;0.001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55EBDC-1586-488D-8E6F-D5DCF9AB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1487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A1DB98-BA50-4137-B8A7-4526B0FA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148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0.051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D13C83-E162-4CD4-9DD3-34DE08F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1487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6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CCD54A-97F3-4A30-BB5E-372491E8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148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Very weak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DF2150-D8C5-4FAD-8A71-531EB860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97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4B82F"/>
                </a:solidFill>
              </a:defRPr>
            </a:pPr>
            <a:r>
              <a:rPr sz="1350" b="1">
                <a:solidFill>
                  <a:srgbClr val="E4B82F"/>
                </a:solidFill>
              </a:rPr>
              <a:t>Poverty Index and age group showed the strongest associations, although their magnitude remained very weak.</a:t>
            </a:r>
          </a:p>
        </p:txBody>
      </p:sp>
    </p:spTree>
    <p:extLst>
      <p:ext uri="{BB962C8B-B14F-4D97-AF65-F5344CB8AC3E}">
        <p14:creationId xmlns:p14="http://schemas.microsoft.com/office/powerpoint/2010/main" val="1184552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6A2156-21CB-4550-B50F-DFD1694F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CONCLUSIONS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C7F8E-78FC-4534-B160-78E11F91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381F0-F005-4A86-AFC9-1724C0CA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5334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919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057BD-A99D-4FC0-AA44-4466FA38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190625"/>
            <a:ext cx="5334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9195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AC8F6-0C47-4FF5-8FDE-C0274379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8D96D-97F1-4DBA-906E-57D10AFD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72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The hypothesis was partially supported.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021A4-1C0E-4605-A50D-79F5FD4A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4572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Sleep duration was significantly associated with demographic, health, and lifestyle factors.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1F7C6-60F0-486B-8ACD-9FBCE5FB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4572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Low Cramér’s V values indicate weak relationships and suggest that sleep duration is influenced by multiple factors.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7037F-1DAC-4EA2-BC92-5C52728B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4572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The findings reinforce the importance of healthy habits for better sleep quality and duration.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DECB6-B704-4C4B-AD87-4DFA4CDE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CDA68-0F5C-44CE-9CFC-A777F283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The cross-sectional design does not establish causality.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07D7F-6276-4791-9574-AF4A093B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Diet, mental health, and some chronic diseases were not included.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39046-0762-45A0-AC98-E7EC5E4B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5"/>
                </a:solidFill>
              </a:defRPr>
            </a:pPr>
            <a:r>
              <a:rPr sz="1350" b="0">
                <a:solidFill>
                  <a:srgbClr val="D9DCF5"/>
                </a:solidFill>
              </a:rPr>
              <a:t>•  Future research could combine additional NHANES cycles, add variables, and apply predictive or longitudinal methods.</a:t>
            </a:r>
          </a:p>
        </p:txBody>
      </p:sp>
    </p:spTree>
    <p:extLst>
      <p:ext uri="{BB962C8B-B14F-4D97-AF65-F5344CB8AC3E}">
        <p14:creationId xmlns:p14="http://schemas.microsoft.com/office/powerpoint/2010/main" val="3480796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0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8A39E-055E-452A-AF09-73EE9C0A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67010-0978-4382-8DFD-10A42FD2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4B82F"/>
                </a:solidFill>
              </a:defRPr>
            </a:pPr>
            <a:r>
              <a:rPr sz="1500" b="0">
                <a:solidFill>
                  <a:srgbClr val="E4B82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F1229-DBA6-45A7-8985-B5438E14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381125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D4423-06D7-49A3-968F-02E53F07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0"/>
            <a:ext cx="800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9DCF5"/>
                </a:solidFill>
              </a:defRPr>
            </a:pPr>
            <a:r>
              <a:rPr sz="1575" b="0">
                <a:solidFill>
                  <a:srgbClr val="D9DCF5"/>
                </a:solidFill>
              </a:rPr>
              <a:t>“If sleep does not serve an absolutely vital function, it is the greatest mistake evolution ever made.”</a:t>
            </a:r>
          </a:p>
          <a:p xmlns:a="http://schemas.openxmlformats.org/drawingml/2006/main">
            <a:pPr algn="ctr">
              <a:defRPr sz="1575" b="0">
                <a:solidFill>
                  <a:srgbClr val="D9DCF5"/>
                </a:solidFill>
              </a:defRPr>
            </a:pPr>
            <a:r>
              <a:rPr sz="1575" b="0">
                <a:solidFill>
                  <a:srgbClr val="D9DCF5"/>
                </a:solidFill>
              </a:rPr>
              <a:t>— Allan Rechtschaffen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4133A-E148-40FB-AFC0-550C60A5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911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Thank you for your attention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999827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2026-08-04T11:59:29.5600000Z</dcterms:created>
  <dcterms:modified xsi:type="dcterms:W3CDTF">2026-08-04T11:59:29.5600000Z</dcterms:modified>
</coreProperties>
</file>